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Healthcare Revenue Cycle
</a:t>
            </a:r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Is Broken by Complexity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99339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BFD8"/>
                </a:solidFill>
              </a:rPr>
              <a:t>Prior authorization, claims adjudication &amp; medical coding remain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BFD8"/>
                </a:solidFill>
              </a:rPr>
              <a:t>manual, error-prone, and non-auditable — costing the US healthcare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BFD8"/>
                </a:solidFill>
              </a:rPr>
              <a:t>system $350B+ annually in administrative waste.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3063240"/>
            <a:ext cx="1280160" cy="749808"/>
          </a:xfrm>
          <a:prstGeom prst="rect">
            <a:avLst/>
          </a:prstGeom>
          <a:solidFill>
            <a:srgbClr val="152347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090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$350B+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C4"/>
                </a:solidFill>
              </a:rPr>
              <a:t>Annual admin waste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37360" y="3063240"/>
            <a:ext cx="1280160" cy="749808"/>
          </a:xfrm>
          <a:prstGeom prst="rect">
            <a:avLst/>
          </a:prstGeom>
          <a:solidFill>
            <a:srgbClr val="152347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3090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14 days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C4"/>
                </a:solidFill>
              </a:rPr>
              <a:t>Avg auth turnaround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3063240"/>
            <a:ext cx="1280160" cy="749808"/>
          </a:xfrm>
          <a:prstGeom prst="rect">
            <a:avLst/>
          </a:prstGeom>
          <a:solidFill>
            <a:srgbClr val="152347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3090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40%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5468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AC4"/>
                </a:solidFill>
              </a:rPr>
              <a:t>Preventable denials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0" y="365760"/>
            <a:ext cx="3794760" cy="896112"/>
          </a:xfrm>
          <a:prstGeom prst="rect">
            <a:avLst/>
          </a:prstGeom>
          <a:solidFill>
            <a:srgbClr val="152347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38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96128" y="4389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Fragmented Rule Sets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96128" y="71323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BB8D0"/>
                </a:solidFill>
              </a:rPr>
              <a:t>ICD-10, CPT codes, payer-specific policies — no unified engine to navigate them together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344168"/>
            <a:ext cx="3794760" cy="896112"/>
          </a:xfrm>
          <a:prstGeom prst="rect">
            <a:avLst/>
          </a:prstGeom>
          <a:solidFill>
            <a:srgbClr val="152347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38928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96128" y="14173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Manual Review Delays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96128" y="169164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BB8D0"/>
                </a:solidFill>
              </a:rPr>
              <a:t>Auth decisions take 3–14 days; 40% of denied claims could have been approved with right data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2322576"/>
            <a:ext cx="3794760" cy="896112"/>
          </a:xfrm>
          <a:prstGeom prst="rect">
            <a:avLst/>
          </a:prstGeom>
          <a:solidFill>
            <a:srgbClr val="152347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38928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96128" y="2395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No Auditable Reasoning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96128" y="267004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BB8D0"/>
                </a:solidFill>
              </a:rPr>
              <a:t>Every denial is a compliance risk — no step-by-step trail of how decisions were made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3300984"/>
            <a:ext cx="3794760" cy="896112"/>
          </a:xfrm>
          <a:prstGeom prst="rect">
            <a:avLst/>
          </a:prstGeom>
          <a:solidFill>
            <a:srgbClr val="152347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38928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96128" y="337413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Edge Cases Fall Through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96128" y="364845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BB8D0"/>
                </a:solidFill>
              </a:rPr>
              <a:t>Complex co-morbidities, out-of-network scenarios, and experimental treatments have no structured path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480560"/>
            <a:ext cx="8503920" cy="438912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988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OPPORTUNITY: Build an AI agent that navigates complex rule sets, executes decisions with full auditability, and stays within regulatory guardrails at every step.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Trust-First Agentic AI for Healthcare Revenue Cycle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From fragmented, manual workflows → policy-aware, auditable, AI-driven execution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88920" cy="3456432"/>
          </a:xfrm>
          <a:prstGeom prst="rect">
            <a:avLst/>
          </a:prstGeom>
          <a:solidFill>
            <a:srgbClr val="E0F7FA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2788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" y="1243584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73736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Data Ingestion Layer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" y="208483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</a:rPr>
              <a:t>API-Driven, Policy-Aware Intake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2377440"/>
            <a:ext cx="2569464" cy="0"/>
          </a:xfrm>
          <a:prstGeom prst="line">
            <a:avLst/>
          </a:prstGeom>
          <a:noFill/>
          <a:ln w="1016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487168"/>
            <a:ext cx="2532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EHR/EMR feeds: HL7 FHIR-compliant patient records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Code databases: ICD-10-CM, CPT, HCPCS ingested daily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Payer policy vaults: Per-payer LCD/NCD rules structured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Secure APIs: Standardised, encrypted gateway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Patient Unique ID: De-identified, privacy-preserving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1115568"/>
            <a:ext cx="2788920" cy="3456432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115568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1243584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74136" y="173736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Intelligence &amp; Trust Layer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74136" y="208483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</a:rPr>
              <a:t>Policy Engine + Blockchain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74136" y="2377440"/>
            <a:ext cx="2569464" cy="0"/>
          </a:xfrm>
          <a:prstGeom prst="line">
            <a:avLst/>
          </a:prstGeom>
          <a:noFill/>
          <a:ln w="1016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2487168"/>
            <a:ext cx="2532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Policy reasoning engine: Maps codes → payer rules → decision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Blockchain audit: Immutable step-by-step reasoning log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Timestamped decision events: Regulator-transparent records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Edge case classifier: Flags ambiguous or novel scenarios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ML anomaly detection: Catches upcoding / billing anomalies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08776" y="1115568"/>
            <a:ext cx="2788920" cy="3456432"/>
          </a:xfrm>
          <a:prstGeom prst="rect">
            <a:avLst/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115568"/>
            <a:ext cx="2788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3368" y="124358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8504" y="173736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Action &amp; Insight Layer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18504" y="208483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Agentic Execution → Trusted Decisions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18504" y="2377440"/>
            <a:ext cx="2569464" cy="0"/>
          </a:xfrm>
          <a:prstGeom prst="line">
            <a:avLst/>
          </a:prstGeom>
          <a:noFill/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2487168"/>
            <a:ext cx="2532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Prior auth agent: End-to-end workflow — submit → evaluate → decide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Claims adjudication: Auto-approve, flag, or escalate with rationale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Denial management: Root-cause + appeal suggestion in real time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Compliance monitor: Live ICD/CPT rule-set version checks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Policy simulation: Model impact of new payer rules before go-live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6460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Single Source of Truth — Auditable Reasoning at Every Step — Regulatory Guardrails Built 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</a:rPr>
              <a:t>THE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Measurable Impact &amp; Strategic Advantage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93392" cy="1234440"/>
          </a:xfrm>
          <a:prstGeom prst="rect">
            <a:avLst/>
          </a:prstGeom>
          <a:solidFill>
            <a:srgbClr val="152347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99339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612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↓ 80%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93192" y="16367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 Turnaround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9110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4"/>
                </a:solidFill>
              </a:rPr>
              <a:t>Days → Hours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051560"/>
            <a:ext cx="1993392" cy="1234440"/>
          </a:xfrm>
          <a:prstGeom prst="rect">
            <a:avLst/>
          </a:prstGeom>
          <a:solidFill>
            <a:srgbClr val="152347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051560"/>
            <a:ext cx="199339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551176" y="11612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↑ 35%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16367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First-Pass Approval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19110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4"/>
                </a:solidFill>
              </a:rPr>
              <a:t>Fewer denials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2856" y="1051560"/>
            <a:ext cx="1993392" cy="1234440"/>
          </a:xfrm>
          <a:prstGeom prst="rect">
            <a:avLst/>
          </a:prstGeom>
          <a:solidFill>
            <a:srgbClr val="152347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2856" y="1051560"/>
            <a:ext cx="199339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1612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36008" y="16367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Audit-Ready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36008" y="19110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4"/>
                </a:solidFill>
              </a:rPr>
              <a:t>Blockchain-secured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84264" y="1051560"/>
            <a:ext cx="1993392" cy="1234440"/>
          </a:xfrm>
          <a:prstGeom prst="rect">
            <a:avLst/>
          </a:prstGeom>
          <a:solidFill>
            <a:srgbClr val="152347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84264" y="1051560"/>
            <a:ext cx="19933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793992" y="11612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↓ 60%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57416" y="16367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 Review Load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57416" y="19110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4"/>
                </a:solidFill>
              </a:rPr>
              <a:t>AI handles routine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468880"/>
            <a:ext cx="1993392" cy="2377440"/>
          </a:xfrm>
          <a:prstGeom prst="rect">
            <a:avLst/>
          </a:prstGeom>
          <a:solidFill>
            <a:srgbClr val="0E1E40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68880"/>
            <a:ext cx="1993392" cy="502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5786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891B2"/>
                </a:solidFill>
              </a:rPr>
              <a:t>FASTER APPROVALS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1208" y="3063240"/>
            <a:ext cx="1591056" cy="0"/>
          </a:xfrm>
          <a:prstGeom prst="line">
            <a:avLst/>
          </a:prstGeom>
          <a:noFill/>
          <a:ln w="889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163824"/>
            <a:ext cx="17739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Policy reasoning engine decides in seconds. Predictive alerts flag likely denials before submission.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41448" y="2468880"/>
            <a:ext cx="1993392" cy="2377440"/>
          </a:xfrm>
          <a:prstGeom prst="rect">
            <a:avLst/>
          </a:prstGeom>
          <a:solidFill>
            <a:srgbClr val="0E1E40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41448" y="2468880"/>
            <a:ext cx="1993392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2551176" y="25786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0B981"/>
                </a:solidFill>
              </a:rPr>
              <a:t>CLEANER CODING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42616" y="3063240"/>
            <a:ext cx="1591056" cy="0"/>
          </a:xfrm>
          <a:prstGeom prst="line">
            <a:avLst/>
          </a:prstGeom>
          <a:noFill/>
          <a:ln w="889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51176" y="3163824"/>
            <a:ext cx="17739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ML catches upcoding anomalies and ICD/CPT mismatches at ingestion — fewer queries, faster lock.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62856" y="2468880"/>
            <a:ext cx="1993392" cy="2377440"/>
          </a:xfrm>
          <a:prstGeom prst="rect">
            <a:avLst/>
          </a:prstGeom>
          <a:solidFill>
            <a:srgbClr val="0E1E40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62856" y="2468880"/>
            <a:ext cx="1993392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672584" y="25786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7C3AED"/>
                </a:solidFill>
              </a:rPr>
              <a:t>AUDIT-READY COMPLIANCE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64024" y="3063240"/>
            <a:ext cx="1591056" cy="0"/>
          </a:xfrm>
          <a:prstGeom prst="line">
            <a:avLst/>
          </a:prstGeom>
          <a:noFill/>
          <a:ln w="889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72584" y="3163824"/>
            <a:ext cx="17739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Blockchain-secured, immutable decision trail. Every step logged. Regulator-transparent reasoning.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84264" y="2468880"/>
            <a:ext cx="1993392" cy="2377440"/>
          </a:xfrm>
          <a:prstGeom prst="rect">
            <a:avLst/>
          </a:prstGeom>
          <a:solidFill>
            <a:srgbClr val="0E1E4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84264" y="2468880"/>
            <a:ext cx="1993392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793992" y="25786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59E0B"/>
                </a:solidFill>
              </a:rPr>
              <a:t>POLICY SIMULATION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85432" y="3063240"/>
            <a:ext cx="1591056" cy="0"/>
          </a:xfrm>
          <a:prstGeom prst="line">
            <a:avLst/>
          </a:prstGeom>
          <a:noFill/>
          <a:ln w="889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93992" y="3163824"/>
            <a:ext cx="17739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Model how new payer rule changes impact approval rates before they go live — zero-disruption rollouts.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B6D4"/>
                </a:solidFill>
              </a:rPr>
              <a:t>The Agent transforms healthcare revenue cycle from reactive firefighting to proactive, policy-guided, AI-driven precision execution.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Trust-First Agentic AI – Healthcare Revenue Cycle</dc:title>
  <dc:subject>PptxGenJS Presentation</dc:subject>
  <dc:creator>PptxGenJS</dc:creator>
  <cp:lastModifiedBy>PptxGenJS</cp:lastModifiedBy>
  <cp:revision>1</cp:revision>
  <dcterms:created xsi:type="dcterms:W3CDTF">2026-03-24T17:39:02Z</dcterms:created>
  <dcterms:modified xsi:type="dcterms:W3CDTF">2026-03-24T17:39:02Z</dcterms:modified>
</cp:coreProperties>
</file>